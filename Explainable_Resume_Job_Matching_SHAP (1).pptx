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value</c:v>
                </c:pt>
              </c:strCache>
            </c:strRef>
          </c:tx>
          <c:spPr>
            <a:solidFill>
              <a:srgbClr val="1F9D55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9D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9D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9D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9D5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7444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Required Skill Match</c:v>
                  </c:pt>
                  <c:pt idx="1">
                    <c:v>Semantic Similarity</c:v>
                  </c:pt>
                  <c:pt idx="2">
                    <c:v>Project Relevance</c:v>
                  </c:pt>
                  <c:pt idx="3">
                    <c:v>Technology Match</c:v>
                  </c:pt>
                  <c:pt idx="4">
                    <c:v>Experience Match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</c:v>
                </c:pt>
                <c:pt idx="1">
                  <c:v>0.16</c:v>
                </c:pt>
                <c:pt idx="2">
                  <c:v>0.11</c:v>
                </c:pt>
                <c:pt idx="3">
                  <c:v>0.07</c:v>
                </c:pt>
                <c:pt idx="4">
                  <c:v>-0.08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1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min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B"/>
        </a:solidFill>
        <a:ln>
          <a:noFill/>
        </a:ln>
        <a:effectLst/>
      </c:spPr>
    </c:plotArea>
    <c:plotVisOnly val="1"/>
    <c:dispBlanksAs val="span"/>
  </c:chart>
  <c:spPr>
    <a:solidFill>
      <a:srgbClr val="F7F9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1188720" cy="548640"/>
          </a:xfrm>
          <a:prstGeom prst="line">
            <a:avLst/>
          </a:prstGeom>
          <a:noFill/>
          <a:ln w="15875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052560" y="1005840"/>
            <a:ext cx="640080" cy="1097280"/>
          </a:xfrm>
          <a:prstGeom prst="line">
            <a:avLst/>
          </a:prstGeom>
          <a:noFill/>
          <a:ln w="15875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515600" y="1554480"/>
            <a:ext cx="365760" cy="1188720"/>
          </a:xfrm>
          <a:prstGeom prst="line">
            <a:avLst/>
          </a:prstGeom>
          <a:noFill/>
          <a:ln w="15875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2103120"/>
            <a:ext cx="1463040" cy="640080"/>
          </a:xfrm>
          <a:prstGeom prst="line">
            <a:avLst/>
          </a:prstGeom>
          <a:noFill/>
          <a:ln w="15875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2103120"/>
            <a:ext cx="457200" cy="1280160"/>
          </a:xfrm>
          <a:prstGeom prst="line">
            <a:avLst/>
          </a:prstGeom>
          <a:noFill/>
          <a:ln w="15875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2743200"/>
            <a:ext cx="822960" cy="822960"/>
          </a:xfrm>
          <a:prstGeom prst="line">
            <a:avLst/>
          </a:prstGeom>
          <a:noFill/>
          <a:ln w="15875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8778240" y="3383280"/>
            <a:ext cx="731520" cy="731520"/>
          </a:xfrm>
          <a:prstGeom prst="line">
            <a:avLst/>
          </a:prstGeom>
          <a:noFill/>
          <a:ln w="15875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9509760" y="2743200"/>
            <a:ext cx="1005840" cy="640080"/>
          </a:xfrm>
          <a:prstGeom prst="line">
            <a:avLst/>
          </a:prstGeom>
          <a:noFill/>
          <a:ln w="15875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241280" y="3566160"/>
            <a:ext cx="1097280" cy="1005840"/>
          </a:xfrm>
          <a:prstGeom prst="line">
            <a:avLst/>
          </a:prstGeom>
          <a:noFill/>
          <a:ln w="15875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0" y="3383280"/>
            <a:ext cx="731520" cy="1188720"/>
          </a:xfrm>
          <a:prstGeom prst="line">
            <a:avLst/>
          </a:prstGeom>
          <a:noFill/>
          <a:ln w="15875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0344" y="92354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9064" y="147218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70264" y="202082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33304" y="2660904"/>
            <a:ext cx="164592" cy="164592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16" name="Shape 14"/>
          <p:cNvSpPr/>
          <p:nvPr/>
        </p:nvSpPr>
        <p:spPr>
          <a:xfrm>
            <a:off x="9427464" y="330098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56264" y="348386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5944" y="4032504"/>
            <a:ext cx="164592" cy="164592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58984" y="448970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ARTIFICIAL INTELLIGENCE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18288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Resume–Job Matching Using SHAP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841248" y="3429000"/>
            <a:ext cx="1005840" cy="0"/>
          </a:xfrm>
          <a:prstGeom prst="line">
            <a:avLst/>
          </a:prstGeom>
          <a:noFill/>
          <a:ln w="38100">
            <a:solidFill>
              <a:srgbClr val="E863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AI approach for transparent candidate–job compatibility analysis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074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Verma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No.: 23BAI1438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Explainable Artificial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without reasons don't build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45336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resume screening systems often provide a match score without explaining why the candidate received that score.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78024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and recruiters cannot easily understand which factors influenced the prediction.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410712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ML models can make hiring-related predictions difficult to interpret.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5445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needed that provides BOTH: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3717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Candidate–job compatibility prediction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 understandable explanation of the prediction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78040" y="1554480"/>
            <a:ext cx="4434840" cy="4434840"/>
          </a:xfrm>
          <a:prstGeom prst="roundRect">
            <a:avLst>
              <a:gd name="adj" fmla="val 206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9AA7B5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1874520"/>
            <a:ext cx="502920" cy="502920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60604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an explainable resume–job matching system using SHAP to identify the contribution of individual features to the model's prediction.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498080" y="4709160"/>
            <a:ext cx="3794760" cy="0"/>
          </a:xfrm>
          <a:prstGeom prst="line">
            <a:avLst/>
          </a:prstGeom>
          <a:noFill/>
          <a:ln w="12700">
            <a:solidFill>
              <a:srgbClr val="3C4E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4892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+ Explanation = Trust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801368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60020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relevant information from resumes and job descriptions.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2697480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49631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normalize candidate and job-related skills.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3593592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39242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meaningful numerical features for matching.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4489704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" y="4471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2885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Logistic Regression model to predict candidate–job compatibility.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1600200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7064" y="1801368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27064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02552" y="160020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compatibility score based on model prediction.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0760" y="2496312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7064" y="2697480"/>
            <a:ext cx="347472" cy="3474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27064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02552" y="249631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(SHapley Additive exPlanations) to explain the prediction.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80760" y="3392424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27064" y="3593592"/>
            <a:ext cx="347472" cy="34747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27064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02552" y="339242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factors that positively or negatively influence the match.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80760" y="4288536"/>
            <a:ext cx="5166360" cy="749808"/>
          </a:xfrm>
          <a:prstGeom prst="roundRect">
            <a:avLst>
              <a:gd name="adj" fmla="val 8537"/>
            </a:avLst>
          </a:prstGeom>
          <a:solidFill>
            <a:srgbClr val="0E7C8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428853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 </a:t>
            </a:r>
            <a:pPr indent="0" marL="0">
              <a:buNone/>
            </a:pPr>
            <a:r>
              <a:rPr lang="en-US" sz="1250" i="1" dirty="0">
                <a:solidFill>
                  <a:srgbClr val="E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one guiding question: why?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548640" y="5230368"/>
            <a:ext cx="1065276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230368"/>
            <a:ext cx="10104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6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“What is the score?” but “Why is the score this high or low?”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Job Description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1965960"/>
            <a:ext cx="0" cy="132588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098548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9854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2555748"/>
            <a:ext cx="0" cy="132588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688336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8833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Extraction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3145536"/>
            <a:ext cx="0" cy="132588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278124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7812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Normalization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3735324"/>
            <a:ext cx="0" cy="132588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867912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679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4325112"/>
            <a:ext cx="0" cy="132588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457700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4577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66160" y="4914900"/>
            <a:ext cx="0" cy="132588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5047488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0474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Prediction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66160" y="5504688"/>
            <a:ext cx="0" cy="132588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5637276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63727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566160" y="6094476"/>
            <a:ext cx="0" cy="132588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8640" y="6227064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622706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Results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49440" y="150876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1965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 +  Job Description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949440" y="3108960"/>
            <a:ext cx="4663440" cy="3246120"/>
          </a:xfrm>
          <a:prstGeom prst="roundRect">
            <a:avLst>
              <a:gd name="adj" fmla="val 2254"/>
            </a:avLst>
          </a:prstGeom>
          <a:solidFill>
            <a:srgbClr val="1B2A4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223760" y="3273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23760" y="3694176"/>
            <a:ext cx="91440" cy="91440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45236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probability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223760" y="4261104"/>
            <a:ext cx="91440" cy="91440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452360" y="4133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skills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23760" y="4828032"/>
            <a:ext cx="91440" cy="91440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452360" y="4700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223760" y="5394960"/>
            <a:ext cx="91440" cy="91440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452360" y="5266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explanation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223760" y="5961888"/>
            <a:ext cx="91440" cy="91440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452360" y="5833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visualization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ML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Used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858000" cy="4572000"/>
        </p:xfrm>
        <a:graphic>
          <a:graphicData uri="http://schemas.openxmlformats.org/drawingml/2006/table">
            <a:tbl>
              <a:tblPr/>
              <a:tblGrid>
                <a:gridCol w="2468880"/>
                <a:gridCol w="438912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Required Skill Match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F"/>
                          </a:solidFill>
                        </a:rPr>
                        <a:t>Percentage of required skills present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Preferred Skill Match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F"/>
                          </a:solidFill>
                        </a:rPr>
                        <a:t>Percentage of preferred skills present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Experience Match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F"/>
                          </a:solidFill>
                        </a:rPr>
                        <a:t>Candidate experience vs. requirement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Education Match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F"/>
                          </a:solidFill>
                        </a:rPr>
                        <a:t>Compatibility with education requirement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Technology Match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F"/>
                          </a:solidFill>
                        </a:rPr>
                        <a:t>Overlap of relevant technologies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Project Relevance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F"/>
                          </a:solidFill>
                        </a:rPr>
                        <a:t>Relevance of candidate projects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Semantic Similarity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7F"/>
                          </a:solidFill>
                        </a:rPr>
                        <a:t>Similarity between resume and job description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08760"/>
            <a:ext cx="3977640" cy="4572000"/>
          </a:xfrm>
          <a:prstGeom prst="roundRect">
            <a:avLst>
              <a:gd name="adj" fmla="val 2299"/>
            </a:avLst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5400000">
              <a:srgbClr val="9AA7B5">
                <a:alpha val="3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55280" y="17373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0116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5603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interpretable classification model.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55280" y="3246120"/>
            <a:ext cx="3337560" cy="0"/>
          </a:xfrm>
          <a:prstGeom prst="line">
            <a:avLst/>
          </a:prstGeom>
          <a:noFill/>
          <a:ln w="12700">
            <a:solidFill>
              <a:srgbClr val="5FAEB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3401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3703320"/>
            <a:ext cx="1577340" cy="502920"/>
          </a:xfrm>
          <a:prstGeom prst="roundRect">
            <a:avLst>
              <a:gd name="adj" fmla="val 50909"/>
            </a:avLst>
          </a:prstGeom>
          <a:solidFill>
            <a:srgbClr val="1F9D5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55280" y="3703320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Match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715500" y="3703320"/>
            <a:ext cx="1577340" cy="502920"/>
          </a:xfrm>
          <a:prstGeom prst="roundRect">
            <a:avLst>
              <a:gd name="adj" fmla="val 50909"/>
            </a:avLst>
          </a:prstGeom>
          <a:solidFill>
            <a:srgbClr val="C7444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715500" y="3703320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Match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443484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probability that can be represented as a compatibility score.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SHAP?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(SHapley Additive exPlanations) is an XAI technique based on Shapley values from cooperative game theory. It explains a model prediction by determining how much each feature contributes to that prediction.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7432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88920" y="274320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27432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7432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40680" y="27432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863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40680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SHAP value: pushes prediction toward a stronger match.     Negative SHAP value: pushes prediction toward a weaker match.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FEATURE CONTRIBUTIONS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315200" y="1691640"/>
          <a:ext cx="448056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EXPLAINABILITY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PROBABILITY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636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FACTORS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947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High required-skill coverage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Strong semantic similarity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624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Relevant projects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626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Matching education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52360" y="1508760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1636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FACTORS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Experience below job requirement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 technologies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2624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Lower preferred-skill coverage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EXPLANATION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0233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specific candidate received this prediction.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80760" y="35661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7033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EXPLANATION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0233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are generally most important to the model.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937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6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 </a:t>
            </a:r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transforms a numerical prediction into an understandable explanation.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46074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104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59306" y="1508760"/>
            <a:ext cx="1144829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59306" y="1508760"/>
            <a:ext cx="11448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8726" y="1508760"/>
            <a:ext cx="848563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68726" y="1508760"/>
            <a:ext cx="848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81882" y="1508760"/>
            <a:ext cx="1046074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81882" y="1508760"/>
            <a:ext cx="1046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92547" y="1508760"/>
            <a:ext cx="1836115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92547" y="1508760"/>
            <a:ext cx="18361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6492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2423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EVALUATION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288036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2834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important features understandable?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3502152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45643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SHAP contributions correctly reflect the model's behavior?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123944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07822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explanations consistent for similar inputs?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4791456"/>
            <a:ext cx="5943600" cy="0"/>
          </a:xfrm>
          <a:prstGeom prst="line">
            <a:avLst/>
          </a:prstGeom>
          <a:noFill/>
          <a:ln w="12700">
            <a:solidFill>
              <a:srgbClr val="E1E7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928616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classification metrics assess predictive performance; XAI-specific checks assess whether the explanations themselves are trustworthy.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69480" y="1508760"/>
            <a:ext cx="4343400" cy="5029200"/>
          </a:xfrm>
          <a:prstGeom prst="roundRect">
            <a:avLst>
              <a:gd name="adj" fmla="val 2105"/>
            </a:avLst>
          </a:prstGeom>
          <a:solidFill>
            <a:srgbClr val="121D3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43800" y="17373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43800" y="2304288"/>
            <a:ext cx="91440" cy="91440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0" y="218541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training data may not fully represent real hiring scenarios.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0" y="3310128"/>
            <a:ext cx="91440" cy="91440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0" y="319125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may fail with unusual document formats.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543800" y="4315968"/>
            <a:ext cx="91440" cy="91440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72400" y="419709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matching cannot capture every aspect of candidate suitability.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543800" y="5321808"/>
            <a:ext cx="91440" cy="91440"/>
          </a:xfrm>
          <a:prstGeom prst="ellipse">
            <a:avLst/>
          </a:prstGeom>
          <a:solidFill>
            <a:srgbClr val="E8631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0" y="520293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the model's behavior but does not guarantee that the prediction itself is correct.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2231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8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1284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ML-based resume–job matching approach.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3580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00837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meaningful features to represent candidate–job compatibility.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313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0390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SHAP to make model predictions interpretable.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268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59943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factors responsible for increasing or decreasing a candidate's match prediction.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223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3949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XAI can improve transparency and understanding of ML-based decision systems.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25856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real-world datasets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18211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1546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resume information extraction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07822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405079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XAI methods such as LIME and counterfactual explanations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97433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94690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bias analysis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87044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58430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real-world recruitment platforms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2026-09-06T23:04:44Z</dcterms:created>
  <dcterms:modified xsi:type="dcterms:W3CDTF">2026-09-06T23:04:44Z</dcterms:modified>
</cp:coreProperties>
</file>